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76" r:id="rId4"/>
    <p:sldId id="261" r:id="rId5"/>
    <p:sldId id="277" r:id="rId6"/>
    <p:sldId id="278" r:id="rId7"/>
    <p:sldId id="279" r:id="rId8"/>
    <p:sldId id="280" r:id="rId9"/>
    <p:sldId id="264" r:id="rId10"/>
    <p:sldId id="270" r:id="rId11"/>
    <p:sldId id="281" r:id="rId12"/>
    <p:sldId id="282" r:id="rId13"/>
    <p:sldId id="274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0EAF-1689-EA7F-A264-5F009924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54232D-1A7D-6F8C-172B-A8DD0EC4C6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27C46-8B91-66E6-BF16-3A96C537A0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A1D3DD4-5A1A-D628-795E-725F46EC55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4AE0AA3-F3AC-2CD6-5D81-110B0DD5C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EE274-BD49-2DEE-3D4A-1E115F7B50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589EF-8CD1-8354-1478-B34DEBA23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46567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6D49-A10E-20D0-39E3-307B1D6E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D50EEB-843C-895B-B5FF-CD2D16B076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C43A0-B61D-6686-041D-B26519595D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1873E02-E9EA-2913-6C2E-1172E918E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45D06BB-3EDA-3CC4-F33A-00A1DB15F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09D65-910D-F498-DA69-4CF8EE2D6C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0B0A0-E7EE-2BD7-55E1-8F957E756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4775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3A15-1120-40CC-BA87-03EF3504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EE4291-E135-8D65-71D8-E6FDB597D2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5EF39-DC9B-07EE-92DD-84815C4525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4949EA-FEC5-480C-E364-9BE451D4C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DE7669-6279-2CCE-1288-680E168EC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9B00C-1D7B-13E2-9A24-FE85748E3F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900F3-F831-6A28-ECD4-50BBAA19E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290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BB479-F00E-DE25-10CA-7EE0FDA4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5B6058-9703-7D71-CB4C-11F047E0BB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B1D86-0C44-9E22-BA4B-303BC91CDE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F9D0615-191F-3F79-D489-EE48AF893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92D199-7380-6B4A-9851-4ACF27943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2708A-F0B4-AEF4-844A-F1AE141E3F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FD57B-FC1B-FA59-2DDE-AB6C69FF8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4387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095E-8E2E-F849-541C-F9056B84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D06CF-D0FE-3F48-0B6F-C802EBCA5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72FB0-2942-403A-7E31-8090A6CE01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E5C6CB-1AA1-548D-B6A3-C4448458C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87A207-2A39-BBB9-6D4F-B84747F4A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FE44E-40D1-9029-0ED8-E91B5D3A16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120E-E476-48EC-6D56-4650D4424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94407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B2C4-C4CE-0739-38F7-0D877749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F94594-69D2-8F42-E76D-9F61C7EA51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2C1B7-8497-7CE6-9732-8D3A1B503A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7F1FA4-1951-8585-2358-E315243D8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0A75AA-DB96-1020-5668-4619F155D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5A372-34F0-A4ED-8054-1D579194E0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439ED-38E5-8C97-5AE4-7F1C74D17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356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CCEA-A68D-879A-49B1-56B7847DA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F4CDD7-281D-4CFD-EAA4-719AEF9A25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8BD6E-DBCF-B00D-D1B3-2D929F959F5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5067B6C-1E98-6E19-AED5-F78F42D67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AC98F2-30C6-959A-9EA2-2C9E3D655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1C0B0-A63F-508C-5EB2-F3763CC0C1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420A7-BC1E-8051-8091-AC332A92B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7159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1143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Bio-inspired Collision Detector for Small Quadcopter</a:t>
            </a:r>
            <a:endParaRPr lang="en-US" sz="110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5DA1AD-BEA7-9DD4-9519-39C5DD607F16}"/>
              </a:ext>
            </a:extLst>
          </p:cNvPr>
          <p:cNvGrpSpPr/>
          <p:nvPr/>
        </p:nvGrpSpPr>
        <p:grpSpPr>
          <a:xfrm>
            <a:off x="2032000" y="4415594"/>
            <a:ext cx="8128000" cy="711200"/>
            <a:chOff x="2032000" y="5397500"/>
            <a:chExt cx="8128000" cy="711200"/>
          </a:xfrm>
        </p:grpSpPr>
        <p:sp>
          <p:nvSpPr>
            <p:cNvPr id="5" name="AutoShape 5"/>
            <p:cNvSpPr/>
            <p:nvPr/>
          </p:nvSpPr>
          <p:spPr>
            <a:xfrm>
              <a:off x="2032000" y="5397500"/>
              <a:ext cx="8128000" cy="711200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5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2159000" y="5537200"/>
              <a:ext cx="787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800" b="1" i="0" u="none" strike="noStrike" dirty="0">
                  <a:solidFill>
                    <a:srgbClr val="22C55E"/>
                  </a:solidFill>
                  <a:latin typeface="Poppins"/>
                  <a:ea typeface="Poppins"/>
                  <a:cs typeface="Poppins"/>
                  <a:sym typeface="Poppins"/>
                </a:rPr>
                <a:t>2018 International Joint Conference on Neural Networks (IJCNN)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CC7C9-D068-C203-5683-9FC79F7F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B2A05F-23D1-6888-200E-DD3DC7A3AE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43288A8-CC72-D57F-D8B7-B9D850AB3007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7DFCA60-9E77-8ECB-9E32-6D3342CE9B37}"/>
              </a:ext>
            </a:extLst>
          </p:cNvPr>
          <p:cNvGrpSpPr/>
          <p:nvPr/>
        </p:nvGrpSpPr>
        <p:grpSpPr>
          <a:xfrm>
            <a:off x="718742" y="1581918"/>
            <a:ext cx="5377258" cy="1202664"/>
            <a:chOff x="762000" y="1651001"/>
            <a:chExt cx="5207000" cy="2540001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064A0F53-E38B-800D-382D-BD5FEE93E042}"/>
                </a:ext>
              </a:extLst>
            </p:cNvPr>
            <p:cNvSpPr/>
            <p:nvPr/>
          </p:nvSpPr>
          <p:spPr>
            <a:xfrm>
              <a:off x="762000" y="1651001"/>
              <a:ext cx="5207000" cy="254000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dirty="0"/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288F1AE7-D4EF-94CF-3F98-FFFDFAD0E9E0}"/>
                </a:ext>
              </a:extLst>
            </p:cNvPr>
            <p:cNvSpPr/>
            <p:nvPr/>
          </p:nvSpPr>
          <p:spPr>
            <a:xfrm>
              <a:off x="954998" y="1905000"/>
              <a:ext cx="4887003" cy="203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defRPr/>
              </a:pPr>
              <a:r>
                <a:rPr lang="zh-CN" altLang="zh-CN" dirty="0"/>
                <a:t>传统上，无人机使用全球定位系统（GPS）或光流导航，并通过超声波、红外、激光或协同系统避开障碍物</a:t>
              </a:r>
              <a:r>
                <a:rPr lang="zh-CN" altLang="en-US" dirty="0"/>
                <a:t>。</a:t>
              </a:r>
              <a:r>
                <a:rPr lang="zh-CN" altLang="zh-CN" dirty="0"/>
                <a:t>然而，四旋翼飞机在陌生环境中自动飞行仍然具有挑战性。</a:t>
              </a:r>
              <a:endParaRPr lang="en-US" sz="14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5D42C57-9930-962E-ED35-C9FF8448AC1A}"/>
              </a:ext>
            </a:extLst>
          </p:cNvPr>
          <p:cNvGrpSpPr/>
          <p:nvPr/>
        </p:nvGrpSpPr>
        <p:grpSpPr>
          <a:xfrm>
            <a:off x="918051" y="4234575"/>
            <a:ext cx="6615592" cy="2146343"/>
            <a:chOff x="918051" y="4219383"/>
            <a:chExt cx="6615592" cy="2146343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0103B545-F83F-207A-11B1-F08142EED562}"/>
                </a:ext>
              </a:extLst>
            </p:cNvPr>
            <p:cNvGrpSpPr/>
            <p:nvPr/>
          </p:nvGrpSpPr>
          <p:grpSpPr>
            <a:xfrm>
              <a:off x="918051" y="4219383"/>
              <a:ext cx="6615592" cy="2146343"/>
              <a:chOff x="6309944" y="1677640"/>
              <a:chExt cx="5207000" cy="2540000"/>
            </a:xfrm>
          </p:grpSpPr>
          <p:sp>
            <p:nvSpPr>
              <p:cNvPr id="18" name="AutoShape 7">
                <a:extLst>
                  <a:ext uri="{FF2B5EF4-FFF2-40B4-BE49-F238E27FC236}">
                    <a16:creationId xmlns:a16="http://schemas.microsoft.com/office/drawing/2014/main" id="{7E91A61F-1438-041A-E067-78C71C4E6667}"/>
                  </a:ext>
                </a:extLst>
              </p:cNvPr>
              <p:cNvSpPr/>
              <p:nvPr/>
            </p:nvSpPr>
            <p:spPr>
              <a:xfrm>
                <a:off x="6309944" y="1677640"/>
                <a:ext cx="5207000" cy="25400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60000"/>
                </a:srgbClr>
              </a:solidFill>
              <a:ln w="12700" cap="flat" cmpd="sng">
                <a:solidFill>
                  <a:srgbClr val="22C55E">
                    <a:alpha val="30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9" name="AutoShape 9">
                <a:extLst>
                  <a:ext uri="{FF2B5EF4-FFF2-40B4-BE49-F238E27FC236}">
                    <a16:creationId xmlns:a16="http://schemas.microsoft.com/office/drawing/2014/main" id="{F1BBDE9E-A634-8B35-961C-6970818AE44C}"/>
                  </a:ext>
                </a:extLst>
              </p:cNvPr>
              <p:cNvSpPr/>
              <p:nvPr/>
            </p:nvSpPr>
            <p:spPr>
              <a:xfrm>
                <a:off x="6543907" y="1905000"/>
                <a:ext cx="2730500" cy="2032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>
                  <a:defRPr/>
                </a:pPr>
                <a:r>
                  <a:rPr lang="zh-CN" altLang="zh-CN" dirty="0"/>
                  <a:t>蝗虫拥有专业的飞行技能，能够在数百万英里内飞行而无碰撞。小叶板中有一个高度专门化的神经元，对图像亮度做出选择性反应，针对即将碰撞或接近的捕食者，这就是所谓的：小叶巨型运动探测器（LGMD）</a:t>
                </a:r>
                <a:endParaRPr lang="en-US" sz="1400" b="0" i="0" u="none" strike="noStrike" dirty="0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20" name="图片 19" descr="仿生运动检测算法-LGMD-广西电力装备智能控制与运维重点实验室">
              <a:extLst>
                <a:ext uri="{FF2B5EF4-FFF2-40B4-BE49-F238E27FC236}">
                  <a16:creationId xmlns:a16="http://schemas.microsoft.com/office/drawing/2014/main" id="{9C0E33B2-18CA-7D66-25C7-1789BF3E0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4457" y="4463286"/>
              <a:ext cx="2649722" cy="151532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98B247F-68BF-9778-5FC0-93D9385583A7}"/>
              </a:ext>
            </a:extLst>
          </p:cNvPr>
          <p:cNvGrpSpPr/>
          <p:nvPr/>
        </p:nvGrpSpPr>
        <p:grpSpPr>
          <a:xfrm>
            <a:off x="5280813" y="2431794"/>
            <a:ext cx="6615592" cy="2146343"/>
            <a:chOff x="5437305" y="2301342"/>
            <a:chExt cx="6615592" cy="2385597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FA9B24B-BCBD-47BA-05AD-2A3FBC97CC48}"/>
                </a:ext>
              </a:extLst>
            </p:cNvPr>
            <p:cNvGrpSpPr/>
            <p:nvPr/>
          </p:nvGrpSpPr>
          <p:grpSpPr>
            <a:xfrm>
              <a:off x="5437305" y="2301342"/>
              <a:ext cx="6615592" cy="2385597"/>
              <a:chOff x="6223000" y="1651000"/>
              <a:chExt cx="5207000" cy="2540000"/>
            </a:xfrm>
          </p:grpSpPr>
          <p:sp>
            <p:nvSpPr>
              <p:cNvPr id="9" name="AutoShape 7">
                <a:extLst>
                  <a:ext uri="{FF2B5EF4-FFF2-40B4-BE49-F238E27FC236}">
                    <a16:creationId xmlns:a16="http://schemas.microsoft.com/office/drawing/2014/main" id="{C1A8C72A-2CE8-9D8F-41A7-284E3E446C15}"/>
                  </a:ext>
                </a:extLst>
              </p:cNvPr>
              <p:cNvSpPr/>
              <p:nvPr/>
            </p:nvSpPr>
            <p:spPr>
              <a:xfrm>
                <a:off x="6223000" y="1651000"/>
                <a:ext cx="5207000" cy="25400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60000"/>
                </a:srgbClr>
              </a:solidFill>
              <a:ln w="12700" cap="flat" cmpd="sng">
                <a:solidFill>
                  <a:srgbClr val="22C55E">
                    <a:alpha val="30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9">
                <a:extLst>
                  <a:ext uri="{FF2B5EF4-FFF2-40B4-BE49-F238E27FC236}">
                    <a16:creationId xmlns:a16="http://schemas.microsoft.com/office/drawing/2014/main" id="{F2BF4D16-8D40-61C8-CC50-7F480482EB8D}"/>
                  </a:ext>
                </a:extLst>
              </p:cNvPr>
              <p:cNvSpPr/>
              <p:nvPr/>
            </p:nvSpPr>
            <p:spPr>
              <a:xfrm>
                <a:off x="8572500" y="1905000"/>
                <a:ext cx="2730500" cy="2032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>
                  <a:defRPr/>
                </a:pPr>
                <a:r>
                  <a:rPr lang="zh-CN" altLang="zh-CN" dirty="0"/>
                  <a:t>SLAM算法通过学习整个视野的三维地图来解决这一问题取得了进展，但这需要过大的计算能力，限制了该技术应用于较小的四轴飞行器。因此，我们需要研究更高效的计算方法，</a:t>
                </a:r>
                <a:endParaRPr lang="en-US" sz="1400" b="0" i="0" u="none" strike="noStrike" dirty="0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p:grpSp>
        <p:pic>
          <p:nvPicPr>
            <p:cNvPr id="13" name="图片 12" descr="激光SLAM技术总结（3）3D激光SLAM算法原理_激光雷达slam建图原理-CSDN博客">
              <a:extLst>
                <a:ext uri="{FF2B5EF4-FFF2-40B4-BE49-F238E27FC236}">
                  <a16:creationId xmlns:a16="http://schemas.microsoft.com/office/drawing/2014/main" id="{E315061B-3C86-64B5-2C52-D1CB6E430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2588" y="2614241"/>
              <a:ext cx="2725930" cy="18219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327653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139257" y="5036786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图示：LGMD神经环路信号处理流程，直观呈现了从光信号感知到运动特征提取，再到碰撞判定的完整信息传递路径，体现了生物视觉机制的高效性与鲁棒性。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CD6F0E1-B92D-B3FE-21FB-E7E05D502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355" y="1397000"/>
            <a:ext cx="4580980" cy="3731416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0050C147-5786-FA18-C37D-DACCF3F4C90A}"/>
              </a:ext>
            </a:extLst>
          </p:cNvPr>
          <p:cNvGrpSpPr/>
          <p:nvPr/>
        </p:nvGrpSpPr>
        <p:grpSpPr>
          <a:xfrm>
            <a:off x="1480046" y="1397000"/>
            <a:ext cx="4473767" cy="4064000"/>
            <a:chOff x="762000" y="1778000"/>
            <a:chExt cx="3378200" cy="4064000"/>
          </a:xfrm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2CD56FCD-8AA5-479D-4D54-FC36E549E021}"/>
                </a:ext>
              </a:extLst>
            </p:cNvPr>
            <p:cNvSpPr/>
            <p:nvPr/>
          </p:nvSpPr>
          <p:spPr>
            <a:xfrm>
              <a:off x="762000" y="1778000"/>
              <a:ext cx="3378200" cy="4064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457200"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914400"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371600"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1828800"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286000"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2743200"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200400"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3657600"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defRPr/>
              </a:pPr>
              <a:endParaRPr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5D2093F8-7A90-433E-B1BE-8AE393A77F67}"/>
                </a:ext>
              </a:extLst>
            </p:cNvPr>
            <p:cNvSpPr/>
            <p:nvPr/>
          </p:nvSpPr>
          <p:spPr>
            <a:xfrm>
              <a:off x="889000" y="2032000"/>
              <a:ext cx="31242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457200"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914400"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371600"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1828800"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286000"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2743200"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200400"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3657600"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感光细胞 (P-cells)</a:t>
              </a:r>
              <a:endParaRPr lang="en-US" sz="1100"/>
            </a:p>
          </p:txBody>
        </p:sp>
        <p:cxnSp>
          <p:nvCxnSpPr>
            <p:cNvPr id="18" name="Connector 6">
              <a:extLst>
                <a:ext uri="{FF2B5EF4-FFF2-40B4-BE49-F238E27FC236}">
                  <a16:creationId xmlns:a16="http://schemas.microsoft.com/office/drawing/2014/main" id="{18A1C887-53CE-7242-C29F-EAF74ACB8A8C}"/>
                </a:ext>
              </a:extLst>
            </p:cNvPr>
            <p:cNvCxnSpPr/>
            <p:nvPr/>
          </p:nvCxnSpPr>
          <p:spPr>
            <a:xfrm rot="-13974">
              <a:off x="889013" y="2597150"/>
              <a:ext cx="3124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0EF386CF-A4C9-8177-95F5-F9CFFE57166C}"/>
                </a:ext>
              </a:extLst>
            </p:cNvPr>
            <p:cNvSpPr/>
            <p:nvPr/>
          </p:nvSpPr>
          <p:spPr>
            <a:xfrm>
              <a:off x="889000" y="2730500"/>
              <a:ext cx="3124200" cy="152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457200"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914400"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371600"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1828800"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286000"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2743200"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200400"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3657600"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indent="0" algn="l">
                <a:lnSpc>
                  <a:spcPct val="116666"/>
                </a:lnSpc>
                <a:defRPr/>
              </a:pPr>
              <a:r>
                <a:rPr lang="en-US" sz="1400" b="1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核心功能：</a:t>
              </a:r>
              <a: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感知图像亮度的瞬时变化，是碰撞检测的基础输入层。</a:t>
              </a:r>
              <a:b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400" b="1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输入源：</a:t>
              </a:r>
              <a: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摄像头捕捉的连续两帧视觉图像 (Lf 与 Lf-1)，通过像素级差值捕捉运动信息。</a:t>
              </a:r>
              <a:endParaRPr lang="en-US" sz="1100"/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6A289D40-97AC-CA53-E6B0-591E1F264538}"/>
                </a:ext>
              </a:extLst>
            </p:cNvPr>
            <p:cNvSpPr/>
            <p:nvPr/>
          </p:nvSpPr>
          <p:spPr>
            <a:xfrm>
              <a:off x="889000" y="4699000"/>
              <a:ext cx="3124200" cy="952500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457200"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914400"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371600"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1828800"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286000"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2743200"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200400"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3657600"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>
                <a:defRPr/>
              </a:pPr>
              <a:endParaRPr/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1FFCA624-923F-C291-E61E-69EBEDCA8DE6}"/>
                </a:ext>
              </a:extLst>
            </p:cNvPr>
            <p:cNvSpPr/>
            <p:nvPr/>
          </p:nvSpPr>
          <p:spPr>
            <a:xfrm>
              <a:off x="1016000" y="4762500"/>
              <a:ext cx="2870200" cy="825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457200"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914400"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371600"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1828800"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286000"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2743200"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200400"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3657600"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亮度差计算模型</a:t>
              </a:r>
              <a:r>
                <a:rPr lang="en-US" sz="1600" b="1" i="0" u="none" strike="noStrike" dirty="0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endParaRPr lang="en-US" dirty="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0" i="0" u="none" strike="noStrike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lang="en-US" sz="1600" b="0" i="0" u="none" strike="noStrike" baseline="-25000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-US" sz="1600" b="0" i="0" u="none" strike="noStrike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x,y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 = </a:t>
              </a:r>
              <a:r>
                <a:rPr lang="en-US" sz="1600" b="0" i="0" u="none" strike="noStrike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lang="en-US" sz="1600" b="0" i="0" u="none" strike="noStrike" baseline="-25000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-US" sz="1600" b="0" i="0" u="none" strike="noStrike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x,y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 - L</a:t>
              </a:r>
              <a:r>
                <a:rPr lang="en-US" sz="1600" b="0" i="0" u="none" strike="noStrike" baseline="-25000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f-1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-US" sz="1600" b="0" i="0" u="none" strike="noStrike" dirty="0" err="1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x,y</a:t>
              </a:r>
              <a:r>
                <a:rPr lang="en-US" sz="1600" b="0" i="0" u="none" strike="noStrike" dirty="0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84282E5-C3AC-1CC6-B260-34ACAC896765}"/>
              </a:ext>
            </a:extLst>
          </p:cNvPr>
          <p:cNvSpPr/>
          <p:nvPr/>
        </p:nvSpPr>
        <p:spPr>
          <a:xfrm>
            <a:off x="7347433" y="1467942"/>
            <a:ext cx="3657600" cy="6201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01D35-6D31-ED18-6AD5-E5DB1F8B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715390A-C6DF-FD1A-85C3-8DCEB7E3CA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4AECCF-F378-F985-FCAD-8D4F0BC8F075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EE93AFE-9F7D-9AA3-CEEE-9652EA991B16}"/>
              </a:ext>
            </a:extLst>
          </p:cNvPr>
          <p:cNvSpPr/>
          <p:nvPr/>
        </p:nvSpPr>
        <p:spPr>
          <a:xfrm>
            <a:off x="6139257" y="5036786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图示：LGMD神经环路信号处理流程，直观呈现了从光信号感知到运动特征提取，再到碰撞判定的完整信息传递路径，体现了生物视觉机制的高效性与鲁棒性。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D07184-A607-B703-1763-2300FBF8B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355" y="1397000"/>
            <a:ext cx="4580980" cy="3731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7C3A1F0-2666-BF36-BE18-D660B2DA7571}"/>
              </a:ext>
            </a:extLst>
          </p:cNvPr>
          <p:cNvSpPr/>
          <p:nvPr/>
        </p:nvSpPr>
        <p:spPr>
          <a:xfrm>
            <a:off x="7438833" y="1995717"/>
            <a:ext cx="3657600" cy="6201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8DD179-AF64-6A1D-4D05-4F117EB1F63C}"/>
              </a:ext>
            </a:extLst>
          </p:cNvPr>
          <p:cNvGrpSpPr/>
          <p:nvPr/>
        </p:nvGrpSpPr>
        <p:grpSpPr>
          <a:xfrm>
            <a:off x="1337102" y="1417116"/>
            <a:ext cx="4708106" cy="4023768"/>
            <a:chOff x="4394200" y="1778000"/>
            <a:chExt cx="3378200" cy="4064000"/>
          </a:xfrm>
        </p:grpSpPr>
        <p:sp>
          <p:nvSpPr>
            <p:cNvPr id="6" name="AutoShape 10">
              <a:extLst>
                <a:ext uri="{FF2B5EF4-FFF2-40B4-BE49-F238E27FC236}">
                  <a16:creationId xmlns:a16="http://schemas.microsoft.com/office/drawing/2014/main" id="{608D7BBD-7B2A-82E5-8200-763AC6C88AFF}"/>
                </a:ext>
              </a:extLst>
            </p:cNvPr>
            <p:cNvSpPr/>
            <p:nvPr/>
          </p:nvSpPr>
          <p:spPr>
            <a:xfrm>
              <a:off x="4394200" y="1778000"/>
              <a:ext cx="3378200" cy="4064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11">
              <a:extLst>
                <a:ext uri="{FF2B5EF4-FFF2-40B4-BE49-F238E27FC236}">
                  <a16:creationId xmlns:a16="http://schemas.microsoft.com/office/drawing/2014/main" id="{0A916DCD-71F6-BDB2-1E17-DF7E50609B00}"/>
                </a:ext>
              </a:extLst>
            </p:cNvPr>
            <p:cNvSpPr/>
            <p:nvPr/>
          </p:nvSpPr>
          <p:spPr>
            <a:xfrm>
              <a:off x="4521200" y="2032000"/>
              <a:ext cx="31242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兴奋/抑制细胞 (E/I)</a:t>
              </a:r>
              <a:endParaRPr lang="en-US" sz="1100"/>
            </a:p>
          </p:txBody>
        </p:sp>
        <p:cxnSp>
          <p:nvCxnSpPr>
            <p:cNvPr id="8" name="Connector 12">
              <a:extLst>
                <a:ext uri="{FF2B5EF4-FFF2-40B4-BE49-F238E27FC236}">
                  <a16:creationId xmlns:a16="http://schemas.microsoft.com/office/drawing/2014/main" id="{57372F51-F027-827B-6C61-10B48C679ACF}"/>
                </a:ext>
              </a:extLst>
            </p:cNvPr>
            <p:cNvCxnSpPr/>
            <p:nvPr/>
          </p:nvCxnSpPr>
          <p:spPr>
            <a:xfrm rot="-13974">
              <a:off x="4521213" y="2597150"/>
              <a:ext cx="3124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2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AutoShape 13">
              <a:extLst>
                <a:ext uri="{FF2B5EF4-FFF2-40B4-BE49-F238E27FC236}">
                  <a16:creationId xmlns:a16="http://schemas.microsoft.com/office/drawing/2014/main" id="{71F9BC52-E7A0-9F2B-1D43-FEA8E8715D3A}"/>
                </a:ext>
              </a:extLst>
            </p:cNvPr>
            <p:cNvSpPr/>
            <p:nvPr/>
          </p:nvSpPr>
          <p:spPr>
            <a:xfrm>
              <a:off x="4521200" y="2730500"/>
              <a:ext cx="3124200" cy="152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400" b="1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E-cells：</a:t>
              </a:r>
              <a: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无延迟传递P-cells的兴奋信号，实现快速响应。</a:t>
              </a:r>
              <a:b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400" b="1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I-cells：</a:t>
              </a:r>
              <a:r>
                <a:rPr lang="en-US" sz="14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通过卷积操作实现侧向抑制，抑制权重与距离成反比，有效增强运动边缘的对比度。</a:t>
              </a:r>
              <a:endParaRPr lang="en-US" sz="1100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4E745170-D069-D5B8-6C83-BACF41CF5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06" y="4138287"/>
            <a:ext cx="5310900" cy="878742"/>
          </a:xfrm>
          <a:prstGeom prst="rect">
            <a:avLst/>
          </a:prstGeom>
        </p:spPr>
      </p:pic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B78BDEA0-5647-CA85-625F-11684B5A63CA}"/>
              </a:ext>
            </a:extLst>
          </p:cNvPr>
          <p:cNvSpPr/>
          <p:nvPr/>
        </p:nvSpPr>
        <p:spPr>
          <a:xfrm>
            <a:off x="4923751" y="1001783"/>
            <a:ext cx="5984584" cy="3116747"/>
          </a:xfrm>
          <a:prstGeom prst="wedgeRoundRectCallout">
            <a:avLst>
              <a:gd name="adj1" fmla="val -36367"/>
              <a:gd name="adj2" fmla="val 6404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800" dirty="0"/>
              <a:t>其中 </a:t>
            </a:r>
            <a:r>
              <a:rPr lang="zh-CN" altLang="zh-CN" sz="1800" i="1" dirty="0"/>
              <a:t>W（i，j） </a:t>
            </a:r>
            <a:r>
              <a:rPr lang="zh-CN" altLang="zh-CN" sz="1800" dirty="0"/>
              <a:t>表示局部抑制权重矩阵，r 表示抑制半径。在抑制层中，值得注意的是，i和j不能同时等于零。这意味着抑制作用仅分布到下一层的邻近细胞，而非直接分布到下一层的对应细胞。</a:t>
            </a:r>
            <a:endParaRPr lang="zh-CN" altLang="en-US" sz="18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2D4BA76-FFE7-E704-43D4-CDEC38FBB73E}"/>
              </a:ext>
            </a:extLst>
          </p:cNvPr>
          <p:cNvGrpSpPr/>
          <p:nvPr/>
        </p:nvGrpSpPr>
        <p:grpSpPr>
          <a:xfrm>
            <a:off x="5301388" y="3214550"/>
            <a:ext cx="6093410" cy="2190863"/>
            <a:chOff x="5301388" y="3214550"/>
            <a:chExt cx="6093410" cy="2190863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EC7DD78-5D26-2E2A-8069-5388D1753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01388" y="3421717"/>
              <a:ext cx="2044805" cy="57152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170A736-A59D-952D-EE0B-4EBFAE946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78181" y="3214550"/>
              <a:ext cx="4216617" cy="2190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786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89703-0AC3-F6EB-8922-59F04E67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19C8D1A-FD9A-C30D-4128-78A5C8BA7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A962E07-B35B-1EEE-5782-4D8D38551588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15DEF06-9402-7AED-5E9F-2BDA021644B2}"/>
              </a:ext>
            </a:extLst>
          </p:cNvPr>
          <p:cNvSpPr/>
          <p:nvPr/>
        </p:nvSpPr>
        <p:spPr>
          <a:xfrm>
            <a:off x="6139257" y="5036786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图示：LGMD神经环路信号处理流程，直观呈现了从光信号感知到运动特征提取，再到碰撞判定的完整信息传递路径，体现了生物视觉机制的高效性与鲁棒性。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7590AE6-AE01-1AA0-8B10-28790981B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355" y="1397000"/>
            <a:ext cx="4580980" cy="3731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0996B22-CD03-B2B0-E17C-48128B61CD60}"/>
              </a:ext>
            </a:extLst>
          </p:cNvPr>
          <p:cNvSpPr/>
          <p:nvPr/>
        </p:nvSpPr>
        <p:spPr>
          <a:xfrm>
            <a:off x="7469696" y="2906835"/>
            <a:ext cx="3657600" cy="6201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16">
            <a:extLst>
              <a:ext uri="{FF2B5EF4-FFF2-40B4-BE49-F238E27FC236}">
                <a16:creationId xmlns:a16="http://schemas.microsoft.com/office/drawing/2014/main" id="{808AC6CE-BF25-484A-1507-13768CD7E43F}"/>
              </a:ext>
            </a:extLst>
          </p:cNvPr>
          <p:cNvSpPr/>
          <p:nvPr/>
        </p:nvSpPr>
        <p:spPr>
          <a:xfrm>
            <a:off x="1272076" y="1322265"/>
            <a:ext cx="4823924" cy="421347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AF781166-0758-16DE-D4D4-D9C0C9E6E996}"/>
              </a:ext>
            </a:extLst>
          </p:cNvPr>
          <p:cNvSpPr/>
          <p:nvPr/>
        </p:nvSpPr>
        <p:spPr>
          <a:xfrm>
            <a:off x="1465016" y="1589393"/>
            <a:ext cx="4461222" cy="5266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S-cells</a:t>
            </a:r>
            <a:endParaRPr lang="en-US" sz="1100" dirty="0"/>
          </a:p>
        </p:txBody>
      </p:sp>
      <p:cxnSp>
        <p:nvCxnSpPr>
          <p:cNvPr id="7" name="Connector 18">
            <a:extLst>
              <a:ext uri="{FF2B5EF4-FFF2-40B4-BE49-F238E27FC236}">
                <a16:creationId xmlns:a16="http://schemas.microsoft.com/office/drawing/2014/main" id="{5388C85C-B9B8-2EB6-592E-397483EADE7B}"/>
              </a:ext>
            </a:extLst>
          </p:cNvPr>
          <p:cNvCxnSpPr>
            <a:cxnSpLocks/>
          </p:cNvCxnSpPr>
          <p:nvPr/>
        </p:nvCxnSpPr>
        <p:spPr>
          <a:xfrm>
            <a:off x="1527761" y="2167752"/>
            <a:ext cx="439849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19">
            <a:extLst>
              <a:ext uri="{FF2B5EF4-FFF2-40B4-BE49-F238E27FC236}">
                <a16:creationId xmlns:a16="http://schemas.microsoft.com/office/drawing/2014/main" id="{4CDAB91E-DB7F-5592-08E3-A7BE7DBC5892}"/>
              </a:ext>
            </a:extLst>
          </p:cNvPr>
          <p:cNvSpPr/>
          <p:nvPr/>
        </p:nvSpPr>
        <p:spPr>
          <a:xfrm>
            <a:off x="1465016" y="2269209"/>
            <a:ext cx="4461222" cy="15800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整合机制：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线性整合E-cells的兴奋信号与I-cells的抑制信号，通过动态阈值剔除背景噪声干扰。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生成具有高信噪比的运动显著性特征图。</a:t>
            </a:r>
            <a:endParaRPr lang="en-US" sz="1100"/>
          </a:p>
        </p:txBody>
      </p:sp>
      <p:sp>
        <p:nvSpPr>
          <p:cNvPr id="9" name="AutoShape 21">
            <a:extLst>
              <a:ext uri="{FF2B5EF4-FFF2-40B4-BE49-F238E27FC236}">
                <a16:creationId xmlns:a16="http://schemas.microsoft.com/office/drawing/2014/main" id="{7DB33E8A-F310-FD1C-2326-0DCF57FD4FB0}"/>
              </a:ext>
            </a:extLst>
          </p:cNvPr>
          <p:cNvSpPr/>
          <p:nvPr/>
        </p:nvSpPr>
        <p:spPr>
          <a:xfrm>
            <a:off x="1527761" y="3307539"/>
            <a:ext cx="4361672" cy="8558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</a:pP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S</a:t>
            </a:r>
            <a:r>
              <a:rPr lang="en-US" sz="1800" baseline="-250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f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(</a:t>
            </a:r>
            <a:r>
              <a:rPr lang="en-US" sz="1800" dirty="0" err="1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x,y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) = E</a:t>
            </a:r>
            <a:r>
              <a:rPr lang="en-US" sz="1800" baseline="-250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f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(</a:t>
            </a:r>
            <a:r>
              <a:rPr lang="en-US" sz="1800" dirty="0" err="1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x,y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) - I</a:t>
            </a:r>
            <a:r>
              <a:rPr lang="en-US" sz="1800" baseline="-250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f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(</a:t>
            </a:r>
            <a:r>
              <a:rPr lang="en-US" sz="1800" dirty="0" err="1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x,y</a:t>
            </a:r>
            <a:r>
              <a:rPr lang="en-US" sz="18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) · W</a:t>
            </a:r>
            <a:r>
              <a:rPr lang="en-US" sz="1800" baseline="-25000" dirty="0">
                <a:solidFill>
                  <a:srgbClr val="374151"/>
                </a:solidFill>
                <a:latin typeface="Roboto Mono"/>
                <a:ea typeface="Roboto Mono"/>
                <a:sym typeface="Roboto Mono"/>
              </a:rPr>
              <a:t>I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2AEF1C3-6128-1E2D-1304-A4F088F23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304" y="4011246"/>
            <a:ext cx="4578585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9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2246E-5F43-6406-6176-082C26BD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A21778B-17D8-7615-6DFD-65638B724B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310EF5B-D959-2666-525E-C547BDD4A30B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C65CD91-65F8-D760-F838-6A1F2C026D2F}"/>
              </a:ext>
            </a:extLst>
          </p:cNvPr>
          <p:cNvSpPr/>
          <p:nvPr/>
        </p:nvSpPr>
        <p:spPr>
          <a:xfrm>
            <a:off x="6139257" y="5036786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图示：LGMD神经环路信号处理流程，直观呈现了从光信号感知到运动特征提取，再到碰撞判定的完整信息传递路径，体现了生物视觉机制的高效性与鲁棒性。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3C3D4C-5A32-9871-35B0-B1CD82736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355" y="1397000"/>
            <a:ext cx="4580980" cy="3731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EF03EB6-8352-3A50-FE20-885E9756A9CA}"/>
              </a:ext>
            </a:extLst>
          </p:cNvPr>
          <p:cNvSpPr/>
          <p:nvPr/>
        </p:nvSpPr>
        <p:spPr>
          <a:xfrm>
            <a:off x="7438833" y="3588032"/>
            <a:ext cx="3657600" cy="6201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92BF21-4F8D-F8E2-AC81-F92517EBDDD7}"/>
              </a:ext>
            </a:extLst>
          </p:cNvPr>
          <p:cNvGrpSpPr/>
          <p:nvPr/>
        </p:nvGrpSpPr>
        <p:grpSpPr>
          <a:xfrm>
            <a:off x="782244" y="1453426"/>
            <a:ext cx="5270500" cy="3810000"/>
            <a:chOff x="762000" y="1651000"/>
            <a:chExt cx="5270500" cy="3810000"/>
          </a:xfrm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17560FE0-6F81-6218-596A-46051A680D1B}"/>
                </a:ext>
              </a:extLst>
            </p:cNvPr>
            <p:cNvSpPr/>
            <p:nvPr/>
          </p:nvSpPr>
          <p:spPr>
            <a:xfrm>
              <a:off x="762000" y="1651000"/>
              <a:ext cx="5270500" cy="3810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5000"/>
              </a:srgbClr>
            </a:solidFill>
            <a:ln w="12700" cap="flat" cmpd="sng">
              <a:solidFill>
                <a:srgbClr val="22C55E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342916F4-E9E4-1CD8-2DC1-C74AC2AFF76D}"/>
                </a:ext>
              </a:extLst>
            </p:cNvPr>
            <p:cNvSpPr/>
            <p:nvPr/>
          </p:nvSpPr>
          <p:spPr>
            <a:xfrm>
              <a:off x="1016000" y="1841500"/>
              <a:ext cx="4826000" cy="444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G-cells</a:t>
              </a:r>
              <a:endParaRPr lang="en-US" sz="1100" dirty="0"/>
            </a:p>
          </p:txBody>
        </p:sp>
        <p:cxnSp>
          <p:nvCxnSpPr>
            <p:cNvPr id="18" name="Connector 6">
              <a:extLst>
                <a:ext uri="{FF2B5EF4-FFF2-40B4-BE49-F238E27FC236}">
                  <a16:creationId xmlns:a16="http://schemas.microsoft.com/office/drawing/2014/main" id="{7B2EA0D1-65AB-438F-0A07-DAD958D12C25}"/>
                </a:ext>
              </a:extLst>
            </p:cNvPr>
            <p:cNvCxnSpPr/>
            <p:nvPr/>
          </p:nvCxnSpPr>
          <p:spPr>
            <a:xfrm rot="-9167">
              <a:off x="1016008" y="2406650"/>
              <a:ext cx="47625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9" name="Picture 7">
              <a:extLst>
                <a:ext uri="{FF2B5EF4-FFF2-40B4-BE49-F238E27FC236}">
                  <a16:creationId xmlns:a16="http://schemas.microsoft.com/office/drawing/2014/main" id="{208FA0CE-8382-1377-1C9B-6A181F8556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2667000"/>
              <a:ext cx="279400" cy="279400"/>
            </a:xfrm>
            <a:prstGeom prst="rect">
              <a:avLst/>
            </a:prstGeom>
          </p:spPr>
        </p:pic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D08C58B8-C9CD-ECDB-219A-263A8C757E9E}"/>
                </a:ext>
              </a:extLst>
            </p:cNvPr>
            <p:cNvSpPr/>
            <p:nvPr/>
          </p:nvSpPr>
          <p:spPr>
            <a:xfrm>
              <a:off x="1397000" y="26416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空域滤波与噪声抑制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通过卷积操作增强潜在碰撞物的边缘兴奋区域，有效抑制背景中的零星噪声，聚焦核心目标特征。</a:t>
              </a:r>
            </a:p>
          </p:txBody>
        </p:sp>
        <p:pic>
          <p:nvPicPr>
            <p:cNvPr id="21" name="Picture 9">
              <a:extLst>
                <a:ext uri="{FF2B5EF4-FFF2-40B4-BE49-F238E27FC236}">
                  <a16:creationId xmlns:a16="http://schemas.microsoft.com/office/drawing/2014/main" id="{F55F3837-A9D7-D883-B952-802276ECE6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000" y="3619500"/>
              <a:ext cx="279400" cy="279400"/>
            </a:xfrm>
            <a:prstGeom prst="rect">
              <a:avLst/>
            </a:prstGeom>
          </p:spPr>
        </p:pic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E48F537B-1371-D45D-868C-29B304487B26}"/>
                </a:ext>
              </a:extLst>
            </p:cNvPr>
            <p:cNvSpPr/>
            <p:nvPr/>
          </p:nvSpPr>
          <p:spPr>
            <a:xfrm>
              <a:off x="1397000" y="35941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邻域协同激活机制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计算像素“通过系数”，仅当周边像素同步处于兴奋状态时，信号才能有效传递，实现局部特征的聚合。</a:t>
              </a:r>
            </a:p>
          </p:txBody>
        </p:sp>
        <p:pic>
          <p:nvPicPr>
            <p:cNvPr id="23" name="Picture 11">
              <a:extLst>
                <a:ext uri="{FF2B5EF4-FFF2-40B4-BE49-F238E27FC236}">
                  <a16:creationId xmlns:a16="http://schemas.microsoft.com/office/drawing/2014/main" id="{9D7125F6-D972-ED16-5D2E-E23F435C29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4572000"/>
              <a:ext cx="279400" cy="279400"/>
            </a:xfrm>
            <a:prstGeom prst="rect">
              <a:avLst/>
            </a:prstGeom>
          </p:spPr>
        </p:pic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72C097A9-3D17-1391-0ACA-FB565B741231}"/>
                </a:ext>
              </a:extLst>
            </p:cNvPr>
            <p:cNvSpPr/>
            <p:nvPr/>
          </p:nvSpPr>
          <p:spPr>
            <a:xfrm>
              <a:off x="1397000" y="45466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消除误检干扰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过滤由背景纹理或小物体引起的虚假兴奋，确保只有大面积的、具有威胁性的碰撞目标被保留。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6AB83462-6F4F-D3DA-0E0F-174C6FBB0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923" y="5392386"/>
            <a:ext cx="4792838" cy="822341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1D1131F7-678F-E193-5051-D83DA51D0348}"/>
              </a:ext>
            </a:extLst>
          </p:cNvPr>
          <p:cNvGrpSpPr/>
          <p:nvPr/>
        </p:nvGrpSpPr>
        <p:grpSpPr>
          <a:xfrm>
            <a:off x="950190" y="1123056"/>
            <a:ext cx="5207000" cy="3530770"/>
            <a:chOff x="950190" y="1123056"/>
            <a:chExt cx="5207000" cy="3530770"/>
          </a:xfrm>
        </p:grpSpPr>
        <p:sp>
          <p:nvSpPr>
            <p:cNvPr id="27" name="对话气泡: 圆角矩形 26">
              <a:extLst>
                <a:ext uri="{FF2B5EF4-FFF2-40B4-BE49-F238E27FC236}">
                  <a16:creationId xmlns:a16="http://schemas.microsoft.com/office/drawing/2014/main" id="{1F6B8292-5726-B1CF-A267-ACE537CBF5EA}"/>
                </a:ext>
              </a:extLst>
            </p:cNvPr>
            <p:cNvSpPr/>
            <p:nvPr/>
          </p:nvSpPr>
          <p:spPr>
            <a:xfrm>
              <a:off x="950190" y="1123056"/>
              <a:ext cx="5207000" cy="3530770"/>
            </a:xfrm>
            <a:prstGeom prst="wedgeRoundRectCallout">
              <a:avLst>
                <a:gd name="adj1" fmla="val 18843"/>
                <a:gd name="adj2" fmla="val 75812"/>
                <a:gd name="adj3" fmla="val 1666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zh-CN" sz="1800" dirty="0"/>
                <a:t>传递系数</a:t>
              </a:r>
              <a:r>
                <a:rPr lang="zh-CN" altLang="en-US" sz="1800" dirty="0"/>
                <a:t>。</a:t>
              </a:r>
              <a:r>
                <a:rPr lang="zh-CN" altLang="zh-CN" sz="1800" dirty="0"/>
                <a:t>该系数通过S层的卷积操作定义由其周围像素确定</a:t>
              </a:r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2BFE0E5-F9AC-D625-F456-2881577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37429" y="3031387"/>
              <a:ext cx="1797142" cy="539778"/>
            </a:xfrm>
            <a:prstGeom prst="rect">
              <a:avLst/>
            </a:prstGeom>
          </p:spPr>
        </p:pic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D757516F-13A8-C17E-D778-927D1E0DA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66651" y="2757279"/>
              <a:ext cx="1962251" cy="1028753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76ECC73-8968-D0D2-1BB3-09725DF3E2EA}"/>
              </a:ext>
            </a:extLst>
          </p:cNvPr>
          <p:cNvGrpSpPr/>
          <p:nvPr/>
        </p:nvGrpSpPr>
        <p:grpSpPr>
          <a:xfrm>
            <a:off x="5624341" y="2628005"/>
            <a:ext cx="4106760" cy="2540170"/>
            <a:chOff x="5624341" y="2628005"/>
            <a:chExt cx="4106760" cy="2540170"/>
          </a:xfrm>
        </p:grpSpPr>
        <p:sp>
          <p:nvSpPr>
            <p:cNvPr id="32" name="对话气泡: 圆角矩形 31">
              <a:extLst>
                <a:ext uri="{FF2B5EF4-FFF2-40B4-BE49-F238E27FC236}">
                  <a16:creationId xmlns:a16="http://schemas.microsoft.com/office/drawing/2014/main" id="{CFCDA9D3-CA87-D0E0-C47B-A53E99CE9FD1}"/>
                </a:ext>
              </a:extLst>
            </p:cNvPr>
            <p:cNvSpPr/>
            <p:nvPr/>
          </p:nvSpPr>
          <p:spPr>
            <a:xfrm>
              <a:off x="5694473" y="2628005"/>
              <a:ext cx="3966496" cy="2540170"/>
            </a:xfrm>
            <a:prstGeom prst="wedgeRoundRectCallout">
              <a:avLst>
                <a:gd name="adj1" fmla="val -44128"/>
                <a:gd name="adj2" fmla="val 69773"/>
                <a:gd name="adj3" fmla="val 1666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zh-CN" sz="1800" dirty="0"/>
                <a:t>  </a:t>
              </a:r>
              <a:r>
                <a:rPr lang="en-US" altLang="zh-CN" sz="1800" dirty="0"/>
                <a:t>ω</a:t>
              </a:r>
              <a:r>
                <a:rPr lang="zh-CN" altLang="zh-CN" sz="1800" dirty="0"/>
                <a:t>是一个尺度，并且在每一帧都计算出来</a:t>
              </a:r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  <a:p>
              <a:pPr algn="ctr"/>
              <a:endParaRPr lang="en-US" altLang="zh-CN" sz="1800" dirty="0"/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10E5A30-FB59-6747-6E07-951A1639F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42060" y="3588032"/>
              <a:ext cx="2730640" cy="501676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468A271F-5DB3-BAEC-DC7F-E1E0F08E1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24341" y="4057121"/>
              <a:ext cx="4106760" cy="846084"/>
            </a:xfrm>
            <a:prstGeom prst="rect">
              <a:avLst/>
            </a:prstGeom>
          </p:spPr>
        </p:pic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D9C7DE9E-5B0A-A65E-8BB2-138BD3F172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2244" y="5344316"/>
            <a:ext cx="5641040" cy="96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0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49799-4B2E-E458-6C46-C1A296E9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351758-0E93-4F3D-E8C9-FD773EB0DE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7E3CA16-97CE-E208-B4D6-FFA369EB2BC7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9EE90FC-E5E1-C5B4-2161-FCBBB138E991}"/>
              </a:ext>
            </a:extLst>
          </p:cNvPr>
          <p:cNvSpPr/>
          <p:nvPr/>
        </p:nvSpPr>
        <p:spPr>
          <a:xfrm>
            <a:off x="6139257" y="5036786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图示：LGMD神经环路信号处理流程，直观呈现了从光信号感知到运动特征提取，再到碰撞判定的完整信息传递路径，体现了生物视觉机制的高效性与鲁棒性。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939E41B-61DA-DDD0-7BE3-0CBCBEF33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355" y="1397000"/>
            <a:ext cx="4580980" cy="3731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226ABF9-9B7D-21CB-EF75-71387CD53146}"/>
              </a:ext>
            </a:extLst>
          </p:cNvPr>
          <p:cNvSpPr/>
          <p:nvPr/>
        </p:nvSpPr>
        <p:spPr>
          <a:xfrm>
            <a:off x="7433859" y="4223416"/>
            <a:ext cx="3657600" cy="6201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895B932-2D3F-CCD0-6499-7C9114889D2A}"/>
              </a:ext>
            </a:extLst>
          </p:cNvPr>
          <p:cNvGrpSpPr/>
          <p:nvPr/>
        </p:nvGrpSpPr>
        <p:grpSpPr>
          <a:xfrm>
            <a:off x="782244" y="1524000"/>
            <a:ext cx="5270500" cy="3810000"/>
            <a:chOff x="6159500" y="1651000"/>
            <a:chExt cx="5270500" cy="3810000"/>
          </a:xfrm>
        </p:grpSpPr>
        <p:sp>
          <p:nvSpPr>
            <p:cNvPr id="6" name="AutoShape 13">
              <a:extLst>
                <a:ext uri="{FF2B5EF4-FFF2-40B4-BE49-F238E27FC236}">
                  <a16:creationId xmlns:a16="http://schemas.microsoft.com/office/drawing/2014/main" id="{4EF1B05E-E47E-6EEF-9906-C3B9E0398BCB}"/>
                </a:ext>
              </a:extLst>
            </p:cNvPr>
            <p:cNvSpPr/>
            <p:nvPr/>
          </p:nvSpPr>
          <p:spPr>
            <a:xfrm>
              <a:off x="6159500" y="1651000"/>
              <a:ext cx="5270500" cy="3810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5000"/>
              </a:srgbClr>
            </a:solidFill>
            <a:ln w="12700" cap="flat" cmpd="sng">
              <a:solidFill>
                <a:srgbClr val="22C55E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14">
              <a:extLst>
                <a:ext uri="{FF2B5EF4-FFF2-40B4-BE49-F238E27FC236}">
                  <a16:creationId xmlns:a16="http://schemas.microsoft.com/office/drawing/2014/main" id="{64415B05-25D2-811E-4FC1-A8ABAC0834BA}"/>
                </a:ext>
              </a:extLst>
            </p:cNvPr>
            <p:cNvSpPr/>
            <p:nvPr/>
          </p:nvSpPr>
          <p:spPr>
            <a:xfrm>
              <a:off x="6413500" y="1841500"/>
              <a:ext cx="4826000" cy="444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 dirty="0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2000" b="1" i="0" u="none" strike="noStrike" dirty="0" err="1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LGMD细胞</a:t>
              </a:r>
              <a:r>
                <a:rPr lang="en-US" sz="2000" b="1" i="0" u="none" strike="noStrike" dirty="0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22C55E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决策输出层</a:t>
              </a:r>
              <a:endParaRPr lang="en-US" sz="1100" dirty="0"/>
            </a:p>
          </p:txBody>
        </p:sp>
        <p:cxnSp>
          <p:nvCxnSpPr>
            <p:cNvPr id="8" name="Connector 15">
              <a:extLst>
                <a:ext uri="{FF2B5EF4-FFF2-40B4-BE49-F238E27FC236}">
                  <a16:creationId xmlns:a16="http://schemas.microsoft.com/office/drawing/2014/main" id="{60A940B1-891E-B7A0-B8C1-7D43E79B2E0C}"/>
                </a:ext>
              </a:extLst>
            </p:cNvPr>
            <p:cNvCxnSpPr/>
            <p:nvPr/>
          </p:nvCxnSpPr>
          <p:spPr>
            <a:xfrm rot="-9167">
              <a:off x="6413508" y="2406650"/>
              <a:ext cx="47625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9" name="Picture 16">
              <a:extLst>
                <a:ext uri="{FF2B5EF4-FFF2-40B4-BE49-F238E27FC236}">
                  <a16:creationId xmlns:a16="http://schemas.microsoft.com/office/drawing/2014/main" id="{F9E8D3F0-B387-88A0-EABB-C7C5CB9BA8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3500" y="2667000"/>
              <a:ext cx="279400" cy="279400"/>
            </a:xfrm>
            <a:prstGeom prst="rect">
              <a:avLst/>
            </a:prstGeom>
          </p:spPr>
        </p:pic>
        <p:sp>
          <p:nvSpPr>
            <p:cNvPr id="10" name="AutoShape 17">
              <a:extLst>
                <a:ext uri="{FF2B5EF4-FFF2-40B4-BE49-F238E27FC236}">
                  <a16:creationId xmlns:a16="http://schemas.microsoft.com/office/drawing/2014/main" id="{404ABB0F-AA41-6D9D-6ECF-461785175BE8}"/>
                </a:ext>
              </a:extLst>
            </p:cNvPr>
            <p:cNvSpPr/>
            <p:nvPr/>
          </p:nvSpPr>
          <p:spPr>
            <a:xfrm>
              <a:off x="6794500" y="26416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全局信号整合</a:t>
              </a:r>
              <a:endParaRPr lang="en-US" sz="1100" dirty="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 dirty="0" err="1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汇总所有G-cells的输出信号，计算膜电位动态变化，作为碰撞检测的核心决策依据</a:t>
              </a:r>
              <a:r>
                <a:rPr lang="en-US" sz="1300" b="0" i="0" u="none" strike="noStrike" dirty="0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pic>
          <p:nvPicPr>
            <p:cNvPr id="11" name="Picture 18">
              <a:extLst>
                <a:ext uri="{FF2B5EF4-FFF2-40B4-BE49-F238E27FC236}">
                  <a16:creationId xmlns:a16="http://schemas.microsoft.com/office/drawing/2014/main" id="{78B9B7F9-06FB-9F10-AFBE-1AB7CC7523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13500" y="3619500"/>
              <a:ext cx="279400" cy="279400"/>
            </a:xfrm>
            <a:prstGeom prst="rect">
              <a:avLst/>
            </a:prstGeom>
          </p:spPr>
        </p:pic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A5BF6901-1864-E5C1-46F3-EB40F700F285}"/>
                </a:ext>
              </a:extLst>
            </p:cNvPr>
            <p:cNvSpPr/>
            <p:nvPr/>
          </p:nvSpPr>
          <p:spPr>
            <a:xfrm>
              <a:off x="6794500" y="35941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阈值触发机制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对整合后的信号进行归一化处理，当电位值超过预设阈值时，神经元产生高频“尖峰”脉冲信号。</a:t>
              </a:r>
            </a:p>
          </p:txBody>
        </p:sp>
        <p:pic>
          <p:nvPicPr>
            <p:cNvPr id="22" name="Picture 20">
              <a:extLst>
                <a:ext uri="{FF2B5EF4-FFF2-40B4-BE49-F238E27FC236}">
                  <a16:creationId xmlns:a16="http://schemas.microsoft.com/office/drawing/2014/main" id="{A118B5F2-BA46-B701-AE43-46FD9A672B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13500" y="4572000"/>
              <a:ext cx="279400" cy="279400"/>
            </a:xfrm>
            <a:prstGeom prst="rect">
              <a:avLst/>
            </a:prstGeom>
          </p:spPr>
        </p:pic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B9139454-FABB-CE0D-66D1-A94005A08A86}"/>
                </a:ext>
              </a:extLst>
            </p:cNvPr>
            <p:cNvSpPr/>
            <p:nvPr/>
          </p:nvSpPr>
          <p:spPr>
            <a:xfrm>
              <a:off x="6794500" y="4546600"/>
              <a:ext cx="4445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时序验证与警报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300" b="0" i="0" u="none" strike="noStrike">
                  <a:solidFill>
                    <a:srgbClr val="52525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若连续多帧均检测到持续的尖峰脉冲，则判定为即将发生碰撞，迅速触发避障或制动指令。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645B23E5-CB8F-A8AB-A83E-60E9305C90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68" y="1498685"/>
            <a:ext cx="3220467" cy="102469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347DAE1-A964-A6DF-C9EB-D76A766710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3711" y="2489200"/>
            <a:ext cx="3521790" cy="139351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DB388BD-F784-CC2E-FD27-5CB0B1D5B9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70" y="3674356"/>
            <a:ext cx="3829230" cy="112624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B1561C4-DD2C-80F7-CCC5-FAFD2F7442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3073" y="4691529"/>
            <a:ext cx="3858132" cy="98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LGMD碰撞检测算法详解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核心机制：前馈抑制 (FFI) 的运行逻辑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消除误报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专门针对飞行器自身机动（如急转、俯仰）引发的视觉干扰，有效过滤因机体姿态变化导致的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假阳性碰撞警报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，确保警报仅针对真实逼近的障碍物。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286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54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检测逻辑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3175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FFI细胞持续监测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全视野范围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的亮度变化模式。当识别到全局同步的亮度变化时（标志着机体自身运动），立即向LGMD碰撞检测细胞发送抑制信号，阻断误判。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286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540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138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最高优先级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3175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FFI的抑制指令在系统中具有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最高优先级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，确保飞行器在执行剧烈机动动作时，不会因误报而产生非必要的规避行为，从而保障飞行的稳定性与操控性。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97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55626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FFI机制是LGMD算法的“抗干扰护盾”，通过前馈抑制的方式从源头阻断误报，为无人机在复杂动态环境下的安全飞行提供了关键的算法保障，是实现精准避障的核心环节。</a:t>
            </a:r>
            <a:endParaRPr 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BE409C9-3DE5-CF2D-32FF-91FD4078A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385" y="2362346"/>
            <a:ext cx="5049030" cy="101412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2390EA9-F259-0DF3-FADA-0A80736E4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681" y="3263900"/>
            <a:ext cx="4672238" cy="1522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实验与结果分析</a:t>
            </a:r>
            <a:endParaRPr lang="en-US" sz="11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F8684ED-B7C1-37CA-EE28-95CCC65720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" b="62291"/>
          <a:stretch>
            <a:fillRect/>
          </a:stretch>
        </p:blipFill>
        <p:spPr>
          <a:xfrm>
            <a:off x="1120676" y="1922045"/>
            <a:ext cx="4975324" cy="285247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95D417F-308B-68B1-556A-0C7A126AB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39821" r="-3086"/>
          <a:stretch>
            <a:fillRect/>
          </a:stretch>
        </p:blipFill>
        <p:spPr>
          <a:xfrm>
            <a:off x="6464542" y="1149903"/>
            <a:ext cx="4655609" cy="41270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CBD3B-FFAB-EA6B-C90A-D9949E1E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6FC3173-52EA-B5EE-69EC-254022196C5E}"/>
              </a:ext>
            </a:extLst>
          </p:cNvPr>
          <p:cNvSpPr/>
          <p:nvPr/>
        </p:nvSpPr>
        <p:spPr>
          <a:xfrm>
            <a:off x="-3040216" y="-1096531"/>
            <a:ext cx="19512508" cy="10591764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8ED8822-00BB-C65D-73CA-D9B5F99CD8DA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实验与结果分析</a:t>
            </a:r>
            <a:endParaRPr lang="en-US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CEE656-4D29-29C3-BEDF-5560DA17F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381" y="1270000"/>
            <a:ext cx="6534412" cy="52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92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2E416-545B-EC3F-2B26-3967153D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97448F-498F-E0A8-9412-C2EFEAEEF286}"/>
              </a:ext>
            </a:extLst>
          </p:cNvPr>
          <p:cNvSpPr/>
          <p:nvPr/>
        </p:nvSpPr>
        <p:spPr>
          <a:xfrm>
            <a:off x="-3040216" y="-1096531"/>
            <a:ext cx="19512508" cy="10591764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14E15A8-1560-3779-5C4B-EFCD4E028141}"/>
              </a:ext>
            </a:extLst>
          </p:cNvPr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实验与结果分析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EABC9F-B0CD-C9F1-D854-E647A091A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225" y="688931"/>
            <a:ext cx="3283566" cy="582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2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欢迎随时提问与交流，共同探索科技的无限可能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733</Words>
  <Application>Microsoft Office PowerPoint</Application>
  <PresentationFormat>宽屏</PresentationFormat>
  <Paragraphs>86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Noto Sans SC</vt:lpstr>
      <vt:lpstr>Arial</vt:lpstr>
      <vt:lpstr>Poppins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陈玮 黄</cp:lastModifiedBy>
  <cp:revision>3</cp:revision>
  <dcterms:modified xsi:type="dcterms:W3CDTF">2026-09-08T07:07:30Z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{"Label":"1","ContentProducer":"001191110102MACQD9K64010000","ProduceID":"7683030255816477671","ReservedCode1":"","ContentPropagator":"","PropagateID":"","ReservedCode2":""}</vt:lpwstr>
  </property>
</Properties>
</file>